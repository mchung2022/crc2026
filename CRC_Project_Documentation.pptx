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CRC 中學學務實踐培力平台</a:t>
            </a:r>
          </a:p>
          <a:p>
            <a:pPr>
              <a:spcAft>
                <a:spcPts val="4500"/>
              </a:spcAft>
              <a:defRPr sz="1800">
                <a:solidFill>
                  <a:srgbClr val="0284C7"/>
                </a:solidFill>
                <a:latin typeface="Microsoft JhengHei"/>
              </a:defRPr>
            </a:pPr>
            <a:r>
              <a:t>HTML5 互動簡報、情境模擬遊戲與 Google Sheets 後端串接技術手冊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Microsoft JhengHei"/>
              </a:defRPr>
            </a:pPr>
            <a:r>
              <a:t>製作團隊：AI 師培數位教材開發組</a:t>
            </a:r>
            <a:br/>
            <a:r>
              <a:t>發行對象：大二師培生「中學學生事務實踐」學術發表與技術手冊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CRC 專案開發與後端串接手冊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專案概述：雙引擎學務培力系統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21208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🎯 開發背景與教學目標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本專案為大二師培生量身設計，聚焦於「兒童權利公約 (CRC)」在校園實務之運用。藉由 HTML5 網頁互動媒介，擺脫傳統威權管理思維，培養以下關鍵能力：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理解與體現 CRC 四大核心原則於中學生活規約中。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對接教育部最新學生事務處理要點，淘汰過時威權管教。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批判思考不合理校規，具備民主協商與條文修正能力。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實作班級自治規章共創與修復式對話的溝通實踐。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1645920"/>
            <a:ext cx="521208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7E22CE"/>
                </a:solidFill>
                <a:latin typeface="Microsoft JhengHei"/>
              </a:defRPr>
            </a:pPr>
            <a:r>
              <a:t>📦 平台核心交付成果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📖 50頁 HTML 互動簡報 (Reveal.js)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嵌入式簡報開發，具備左側同步導覽側欄、P13 人權對比拉桿，並內嵌 6 道探究討論框，反思紀錄自動寫入 Sheets。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🎮 四階段情境模擬闖關遊戲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包含法規選擇、點選式卡牌配對、不低於 50 字規章體檢與對話排序。設有時長防呆限制，提供深度學習回饋。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☁️ 無伺服器 GAS 連線後端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以 Google Apps Script 部署 Web App 作為 API，零成本串接 Sheets。支援動態表頭自動遷移，保障未來擴充彈性。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CRC 專案開發與後端串接手冊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系統架構：安全無伺服器 (Serverless) 數據通道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平台採取「前端託管 + Serverless API 後端 + Google Sheet 雲端資料庫」之現代架構，保障 API 安全性，並徹底解決跨網域 (CORS) 阻擋。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150" y="2286000"/>
            <a:ext cx="24688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310" y="246888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1. 前端靜態頁面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GitHub Pages 託管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以相對路徑整合 HTML5 / CSS3 / JS，靜態資源極速載入，免除伺服器維護成本與負載問題。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9350" y="2286000"/>
            <a:ext cx="24688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6510" y="246888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E22CE"/>
                </a:solidFill>
                <a:latin typeface="Microsoft JhengHei"/>
              </a:defRPr>
            </a:pPr>
            <a:r>
              <a:t>2. 安全 API 請求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HTTPS POST (no-cors)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ConfigManager 將數據打包為 JSON，使用 no-cors 模式發送，避免瀏覽器 Pre-flight OPTIONS 安全阻擋。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2550" y="2286000"/>
            <a:ext cx="24688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9710" y="246888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3. 中繼處理引擎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Google Apps Script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執行部署為 Web App 的 Code.gs，以「版主帳號執行」權限寫入 Sheet，保護 API 金鑰不外洩。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5750" y="2286000"/>
            <a:ext cx="24688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2910" y="246888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E22CE"/>
                </a:solidFill>
                <a:latin typeface="Microsoft JhengHei"/>
              </a:defRPr>
            </a:pPr>
            <a:r>
              <a:t>4. 雲端資料庫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Google Sheet 試算表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自動新增 slides_feedback 與 game_scores 工作表，支援自動表頭遷移與防呆資料列追加。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CRC 專案開發與後端串接手冊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簡報系統開發：左目錄側欄與身份登錄機制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3035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🛠️ 簡報頁面重構與技術實作</a:t>
            </a:r>
          </a:p>
          <a:p>
            <a:pPr>
              <a:spcAft>
                <a:spcPts val="1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✔ 嵌入式 Reveal.js 簡報框架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將簡報初始化參數 `embedded` 設為 `true`，精準限制在右側展示視窗內，留出左側固定排版。</a:t>
            </a:r>
          </a:p>
          <a:p>
            <a:pPr>
              <a:spcAft>
                <a:spcPts val="1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✔ 左側同步導覽目錄實作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利用 JS 歷遍 50 頁 section 標題動態生成左側 TOC。綁定 slidechanged 事件，自動高亮與滾動目錄。</a:t>
            </a:r>
          </a:p>
          <a:p>
            <a:pPr>
              <a:spcAft>
                <a:spcPts val="1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✔ 身份登錄防跳過機制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開頁彈出 Glassmorphism 登錄框，強制輸入姓名系級。未登錄前鎖定鍵盤，並將個資存於 sessionStorage。</a:t>
            </a:r>
          </a:p>
          <a:p>
            <a:pPr>
              <a:spcAft>
                <a:spcPts val="1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✔ 討論題 no-cors 即時寫入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六道討論題打包為『素養討論一~六』。學生點擊送出即自動組合個資傳送至 Sheet 進行寫入。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57800" cy="448056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📋 核心代碼架構參考 (JavaScript)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1. 初始化 Reveal.js 嵌入簡報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Reveal.initialize({ embedded: true, controls: true });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2. 身份登錄控制與 Session 鎖定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function closeAuthModal(name, dept) {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sessionStorage.setItem('name', name);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Reveal.configure({ keyboard: true }); // 解鎖鍵盤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3. 簡報反思資料 no-cors 傳送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const payload = { PlayerName: name, Department: dept,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SlideNumber: num, ResponseText: text };</a:t>
            </a:r>
          </a:p>
          <a:p>
            <a:pPr>
              <a:spcAft>
                <a:spcPts val="200"/>
              </a:spcAft>
              <a:defRPr sz="1000">
                <a:solidFill>
                  <a:srgbClr val="C084FC"/>
                </a:solidFill>
                <a:latin typeface="Consolas"/>
              </a:defRPr>
            </a:pPr>
            <a:r>
              <a:t>ConfigManager.sendData('slides_feedback', payload);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CRC 專案開發與後端串接手冊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簡報互動對比拉桿：『沒有 CRC』覆蓋『有 CRC』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107899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🎨 雙層 z-index 遮罩與拖曳剪裁邏輯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位於簡報第 13 頁。向右拉動拉桿時，「沒有 CRC (威權校園)」覆蓋蓋住底層「有 CRC (人權校園)」的畫面。我們使用絕對定位與剪裁寬度實作：</a:t>
            </a:r>
          </a:p>
          <a:p>
            <a:pPr>
              <a:lnSpc>
                <a:spcPct val="130000"/>
              </a:lnSpc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底層 (z-index 1)：有 CRC 面板 (after-panel)，為基準定位，背景與排版固定於右側。</a:t>
            </a:r>
            <a:br/>
            <a:r>
              <a:t>• 頂層 (z-index 2)：沒有 CRC 面板 (before-panel)，定位於左側，width 設為 percentage% 並設為 overflow: hidden 防止折行。</a:t>
            </a:r>
            <a:br/>
            <a:r>
              <a:t>• 拉桿 (z-index 10)：發光拖曳軸，監聽 mousedown 與 touchstart 事件，實時計算滑鼠/手指 X 座標並更新百分比。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023360"/>
            <a:ext cx="10789920" cy="219456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148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💻 核心拖動剪裁代碼 (JavaScript)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function move(clientX) {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const rect = container.getBoundingClientRect();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let percentage = ((clientX - rect.left) / rect.width) * 100;</a:t>
            </a:r>
          </a:p>
          <a:p>
            <a:pPr>
              <a:spcAft>
                <a:spcPts val="200"/>
              </a:spcAft>
              <a:defRPr sz="1050">
                <a:solidFill>
                  <a:srgbClr val="94A3B8"/>
                </a:solidFill>
                <a:latin typeface="Consolas"/>
              </a:defRPr>
            </a:pPr>
            <a:r>
              <a:t>  percentage = Math.max(3, Math.min(97, percentage)); // 限制範圍防止拉桿溢出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handle.style.left = `${percentage}%`;              // 拉桿定位</a:t>
            </a:r>
          </a:p>
          <a:p>
            <a:pPr>
              <a:spcAft>
                <a:spcPts val="200"/>
              </a:spcAft>
              <a:defRPr sz="1050">
                <a:solidFill>
                  <a:srgbClr val="38BDF8"/>
                </a:solidFill>
                <a:latin typeface="Consolas"/>
              </a:defRPr>
            </a:pPr>
            <a:r>
              <a:t>  beforePanel.style.width = `${percentage}%`;        // 沒有 CRC 遮罩寬度 (z-index: 2)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CRC 專案開發與後端串接手冊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遊戲系統開發：四階段闖關與多樣化題型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3035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7E22CE"/>
                </a:solidFill>
                <a:latin typeface="Microsoft JhengHei"/>
              </a:defRPr>
            </a:pPr>
            <a:r>
              <a:t>🚩 四關卡防跳關與學習深度設計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階段一：法規知識奠基 (單選 + 配對)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進行 4 題選擇與 1 組法規連連看配對。配對將 CRC 第 12、16、28、31 條條文與校園情境對接。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階段二：衝突抉擇現場 (情境指標)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搜包、大衣罰站等情境，導師抉擇後即時扣減/增加 HUD (CRC、秩序、專業) 三項指標並寫入路徑。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階段三：規章體檢批判 (簡答題)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批判「連坐罰愛校」與「沒收手機至期末」。每題設有 50 字限制，字數不足按鈕禁用，防範應付作答。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階段四：民主共創未來 (排序 + 宣言)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排序修復式對話 5 步驟（還原-同理-影響-彌補-行動），並撰寫 30 字班級自治誓言。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578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09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284C7"/>
                </a:solidFill>
                <a:latin typeface="Microsoft JhengHei"/>
              </a:defRPr>
            </a:pPr>
            <a:r>
              <a:t>🎯 多樣題型前端實作控制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連連看點選配對 (Card Matching)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改採「點選左側卡，再點選右側卡」取代傳統 Drag-and-drop，保證在手機等移動裝置上排版不會因 RWD 而跑位或無法拖曳。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簡答字數動態驗證 (Validation)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實時監聽 textarea 的 input 事件並計數。字數不足時，Next 按鈕保持 disabled 狀態並動態提示缺少字數，確保寫作品質。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對話步驟拖動排序 (Sorting Game)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陣列序列化存儲。點選步驟加入 user-list 並動態變色，完全排序後與 correctOrder 比對，答錯可隨時點擊撤回。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CRC 專案開發與後端串接手冊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Google Sheets 串接：四步驟快速建置 API 通道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6150" y="173736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5878" y="1874520"/>
            <a:ext cx="224942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步驟一：新建試算表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建立 Database 載體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1. 登入 Google 雲端硬碟。</a:t>
            </a:r>
            <a:br/>
            <a:r>
              <a:t>2. 新建一個空白的「Google 試算表」，檔名可自由命名。</a:t>
            </a:r>
            <a:br/>
            <a:r>
              <a:t>3. 後端會自動初始化分頁與表頭，無須手動建表。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350" y="173736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9078" y="1874520"/>
            <a:ext cx="224942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E22CE"/>
                </a:solidFill>
                <a:latin typeface="Microsoft JhengHei"/>
              </a:defRPr>
            </a:pPr>
            <a:r>
              <a:t>步驟二：貼入後端程式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Apps Script 腳本編輯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1. 於試算表中點選「延伸功能」-&gt;「Apps Script」。</a:t>
            </a:r>
            <a:br/>
            <a:r>
              <a:t>2. 清空預設函數，完整貼入專案「backend/Code.gs」程式碼，點擊儲存。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2550" y="173736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2278" y="1874520"/>
            <a:ext cx="224942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步驟三：部署 Web App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取得 API Endpoint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1. 點擊「部署」-&gt;「新增部署」。</a:t>
            </a:r>
            <a:br/>
            <a:r>
              <a:t>2. 類型選擇「網頁應用程式」。</a:t>
            </a:r>
            <a:br/>
            <a:r>
              <a:t>3. 執行身分設為「我」；存取權限設為「任何人(Anyone)」後進行部署，複製產生的 URL。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5750" y="173736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5478" y="1874520"/>
            <a:ext cx="224942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E22CE"/>
                </a:solidFill>
                <a:latin typeface="Microsoft JhengHei"/>
              </a:defRPr>
            </a:pPr>
            <a:r>
              <a:t>步驟四：設定前端連線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前端網頁網址對接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1. 打開 index.html / slides.html 等，點右上角設定按鈕。</a:t>
            </a:r>
            <a:br/>
            <a:r>
              <a:t>2. 貼入剛剛複製的 Web App URL 並點擊保存。</a:t>
            </a:r>
            <a:br/>
            <a:r>
              <a:t>3. 已預設寫入 JS 組態檔中，學生即開即用。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CRC 專案開發與後端串接手冊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後端容錯機制：No-CORS 傳送與表頭動態遷移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3035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284C7"/>
                </a:solidFill>
                <a:latin typeface="Microsoft JhengHei"/>
              </a:defRPr>
            </a:pPr>
            <a:r>
              <a:t>🛡️ CORS 跨網域安全阻攔解決方案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問題：GAS Web App 接收 POST 時會重新導向，因導向鏈中遺失 CORS 標頭，瀏覽器會封鎖請求，出現 Failed to fetch 錯誤。</a:t>
            </a:r>
          </a:p>
          <a:p>
            <a:pPr>
              <a:spcAft>
                <a:spcPts val="100"/>
              </a:spcAft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✔ 前端採用 mode: 'no-cors' 屬性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強制瀏覽器放棄對該請求進行跨域安全標頭驗證。</a:t>
            </a:r>
          </a:p>
          <a:p>
            <a:pPr>
              <a:spcAft>
                <a:spcPts val="100"/>
              </a:spcAft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✔ 發送設定 Content-Type: 'text/plain'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將 POST 標記為 Simple Request，避開瀏覽器自動觸發的 pre-flight OPTIONS 請求阻礙。</a:t>
            </a:r>
          </a:p>
          <a:p>
            <a:pPr>
              <a:spcAft>
                <a:spcPts val="100"/>
              </a:spcAft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✔ Opaque 響應直接默認成功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   因 no-cors 模式會返回 status 0 (不透明)，前端不進行 json 解析，無拋錯即視為發送成功，確保穩定。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578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09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7E22CE"/>
                </a:solidFill>
                <a:latin typeface="Microsoft JhengHei"/>
              </a:defRPr>
            </a:pPr>
            <a:r>
              <a:t>🔄 動態資料表與自動表頭遷移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因應課程迭代開發（如追加批判簡答、自治宣言欄位），後端 Code.gs 特別實作自動化表頭遷移 (Schema Migration)：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空白分頁自動建立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若試算表有手動建分頁但完全空白，getLastColumn() 為 0。後端自動攔截並呼叫 appendRow 寫入 defaultHeaders 防止 Range Error。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✦ 版本升級自動追加欄位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當新版遊戲傳送 ShortAnswer1 等新欄位時，Code.gs 自動比對表頭。若缺失，即透過 getRange() 在最右側追加新表頭，無損升級資料庫。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rial"/>
              </a:defRPr>
            </a:pPr>
            <a:r>
              <a:t>CRC 專案開發與後端串接手冊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發布與測試驗證：GitHub Pages 託管與 API 實測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3035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284C7"/>
                </a:solidFill>
                <a:latin typeface="Microsoft JhengHei"/>
              </a:defRPr>
            </a:pPr>
            <a:r>
              <a:t>🚀 GitHub Pages 前端靜態部署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本地倉庫 Git 初始化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開啟終端機進入專案目錄，執行 `git init` 建立本地版控倉庫。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提交靜態資源變更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執行 `git add .` 與 `git commit -m 'feat: init CRC platform'` 完成本地提交。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推送至 GitHub 遠端倉庫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關聯遠端儲存庫並執行 `git push -u origin main` 推送至 GitHub。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▪ 啟用 Pages 服務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於 Settings -&gt; Pages 頁面將 Source 設為 main 分支並保存。稍等 1 分鐘即可經由 https://mchung2022.github.io/CRC2026/ 公開瀏覽。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578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09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7E22CE"/>
                </a:solidFill>
                <a:latin typeface="Microsoft JhengHei"/>
              </a:defRPr>
            </a:pPr>
            <a:r>
              <a:t>🧪 Node.js 後端 API 自動寫入驗證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我們已建立測試腳本對您最新的 Google Apps Script 連線位址進行 POST 模擬寫入，驗證結果如下：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✔ 簡報素養反思測試 寫入成功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傳送姓名『AI測試員-簡報』及素養討論反思至工作表 slides_feedback，後端成功解析並回傳 success: true。</a:t>
            </a:r>
          </a:p>
          <a:p>
            <a:pPr>
              <a:spcAft>
                <a:spcPts val="100"/>
              </a:spcAft>
              <a:defRPr sz="1250" b="1">
                <a:solidFill>
                  <a:srgbClr val="0F172A"/>
                </a:solidFill>
                <a:latin typeface="Microsoft JhengHei"/>
              </a:defRPr>
            </a:pPr>
            <a:r>
              <a:t>✔ 遊戲結算與簡答題 寫入成功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Microsoft JhengHei"/>
              </a:defRPr>
            </a:pPr>
            <a:r>
              <a:t>傳送姓名『AI測試員-遊戲』、學號、得分、以及三道批判簡答內容至工作表 game_scores，後端順利完成寫入且無 CORS 阻攔。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結論與未來展望：師培數位化學習新典範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300">
                <a:solidFill>
                  <a:srgbClr val="0284C7"/>
                </a:solidFill>
                <a:latin typeface="Microsoft JhengHei"/>
              </a:defRPr>
            </a:pPr>
            <a:r>
              <a:t>🌟 雙軌引擎，相輔相成 —— 以 50 頁互動簡報奠定 CRC 法理基礎；透過四階段情境遊戲淬鍊學務抉擇。雙管齊下，打造高品質、高互動性的培力平台。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⚡ 輕量架構，永續運作 —— 以 Google Sheets 代替傳統資料庫，免除伺服器維護成本與資料庫租金，適合教育研究及課堂教學長期託管。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300">
                <a:solidFill>
                  <a:srgbClr val="0284C7"/>
                </a:solidFill>
                <a:latin typeface="Microsoft JhengHei"/>
              </a:defRPr>
            </a:pPr>
            <a:r>
              <a:t>🛡️ 高容錯率，靈活擴充 —— 獨創 Web App 跨域 no-cors 傳送與 Code.gs 表頭動態遷移 (Schema Migration) 技術，未來課程內容微調無須改動資料庫架構。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🎓 師培啟航，人權扎根 —— 本平台成功協助大二師培學員將「兒童權利公約」融入中學導師帶班實務，培育新世代兼具「人權信念」與「法規專業」的優秀教師！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