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65760" cy="6858000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2011680"/>
            <a:ext cx="100584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4400" b="1">
                <a:solidFill>
                  <a:srgbClr val="F8FAFC"/>
                </a:solidFill>
                <a:latin typeface="Microsoft JhengHei"/>
              </a:defRPr>
            </a:pPr>
            <a:r>
              <a:t>CRC 中學學務實踐平台</a:t>
            </a:r>
          </a:p>
          <a:p>
            <a:pPr>
              <a:spcAft>
                <a:spcPts val="4000"/>
              </a:spcAft>
              <a:defRPr sz="1800">
                <a:solidFill>
                  <a:srgbClr val="0EA5E9"/>
                </a:solidFill>
                <a:latin typeface="Microsoft JhengHei"/>
              </a:defRPr>
            </a:pPr>
            <a:r>
              <a:t>HTML 互動簡報、情境模擬遊戲與 Google Sheets 後端串接技術手冊</a:t>
            </a:r>
          </a:p>
          <a:p>
            <a:pPr>
              <a:lnSpc>
                <a:spcPct val="130000"/>
              </a:lnSpc>
              <a:defRPr sz="1200">
                <a:solidFill>
                  <a:srgbClr val="94A3B8"/>
                </a:solidFill>
                <a:latin typeface="Microsoft JhengHei"/>
              </a:defRPr>
            </a:pPr>
            <a:r>
              <a:t>專案開發者：AI 師培教材設計團隊</a:t>
            </a:r>
            <a:br/>
            <a:r>
              <a:t>對象：大二師培生數位學習平台開發紀錄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91440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A855F7"/>
                </a:solidFill>
                <a:latin typeface="Arial"/>
              </a:defRPr>
            </a:pPr>
            <a:r>
              <a:t>專案技術手冊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40080"/>
            <a:ext cx="1078992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600" b="1">
                <a:solidFill>
                  <a:srgbClr val="F8FAFC"/>
                </a:solidFill>
                <a:latin typeface="Microsoft JhengHei"/>
              </a:defRPr>
            </a:pPr>
            <a:r>
              <a:t>專案概述：雙引擎學務培力系統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371600"/>
            <a:ext cx="10820095" cy="18288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85800" y="1645920"/>
            <a:ext cx="5120640" cy="4389120"/>
          </a:xfrm>
          <a:prstGeom prst="rect">
            <a:avLst/>
          </a:prstGeom>
          <a:solidFill>
            <a:srgbClr val="151D3B"/>
          </a:solidFill>
          <a:ln w="19050">
            <a:solidFill>
              <a:srgbClr val="0EA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920240"/>
            <a:ext cx="438912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0"/>
              </a:spcAft>
              <a:defRPr sz="1800" b="1">
                <a:solidFill>
                  <a:srgbClr val="0EA5E9"/>
                </a:solidFill>
                <a:latin typeface="Microsoft JhengHei"/>
              </a:defRPr>
            </a:pPr>
            <a:r>
              <a:t>🎯 開發背景與教學目標</a:t>
            </a:r>
          </a:p>
          <a:p>
            <a:pPr>
              <a:spcAft>
                <a:spcPts val="1500"/>
              </a:spcAft>
              <a:defRPr sz="1300">
                <a:solidFill>
                  <a:srgbClr val="F8FAFC"/>
                </a:solidFill>
                <a:latin typeface="Microsoft JhengHei"/>
              </a:defRPr>
            </a:pPr>
            <a:r>
              <a:t>本專案針對大二師培生設計，將「兒童權利公約 (CRC)」與中學學生事務實踐深度結合。利用 HTML5 互動媒介，幫助未來教師建立人權管理信念，達成以下教育目的：</a:t>
            </a:r>
          </a:p>
          <a:p>
            <a:pPr>
              <a:spcAft>
                <a:spcPts val="800"/>
              </a:spcAft>
              <a:defRPr sz="1200">
                <a:solidFill>
                  <a:srgbClr val="94A3B8"/>
                </a:solidFill>
                <a:latin typeface="Microsoft JhengHei"/>
              </a:defRPr>
            </a:pPr>
            <a:r>
              <a:t>• 理解 CRC 四大基本原則於校園管理的具體意涵。</a:t>
            </a:r>
          </a:p>
          <a:p>
            <a:pPr>
              <a:spcAft>
                <a:spcPts val="800"/>
              </a:spcAft>
              <a:defRPr sz="1200">
                <a:solidFill>
                  <a:srgbClr val="94A3B8"/>
                </a:solidFill>
                <a:latin typeface="Microsoft JhengHei"/>
              </a:defRPr>
            </a:pPr>
            <a:r>
              <a:t>• 應用教育部最新生活規約，擺脫過時威權管教迷思。</a:t>
            </a:r>
          </a:p>
          <a:p>
            <a:pPr>
              <a:spcAft>
                <a:spcPts val="800"/>
              </a:spcAft>
              <a:defRPr sz="1200">
                <a:solidFill>
                  <a:srgbClr val="94A3B8"/>
                </a:solidFill>
                <a:latin typeface="Microsoft JhengHei"/>
              </a:defRPr>
            </a:pPr>
            <a:r>
              <a:t>• 培力批判性思考，具備體檢及修正不合理校規之素養。</a:t>
            </a:r>
          </a:p>
          <a:p>
            <a:pPr>
              <a:spcAft>
                <a:spcPts val="800"/>
              </a:spcAft>
              <a:defRPr sz="1200">
                <a:solidFill>
                  <a:srgbClr val="94A3B8"/>
                </a:solidFill>
                <a:latin typeface="Microsoft JhengHei"/>
              </a:defRPr>
            </a:pPr>
            <a:r>
              <a:t>• 實踐共創班規與修復式正義對話之創造成果。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6382512" y="1645920"/>
            <a:ext cx="5120640" cy="4389120"/>
          </a:xfrm>
          <a:prstGeom prst="rect">
            <a:avLst/>
          </a:prstGeom>
          <a:solidFill>
            <a:srgbClr val="151D3B"/>
          </a:solidFill>
          <a:ln w="19050"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748272" y="1920240"/>
            <a:ext cx="438912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0"/>
              </a:spcAft>
              <a:defRPr sz="1800" b="1">
                <a:solidFill>
                  <a:srgbClr val="A855F7"/>
                </a:solidFill>
                <a:latin typeface="Microsoft JhengHei"/>
              </a:defRPr>
            </a:pPr>
            <a:r>
              <a:t>📦 平台核心交付成果</a:t>
            </a:r>
          </a:p>
          <a:p>
            <a:pPr>
              <a:spcAft>
                <a:spcPts val="400"/>
              </a:spcAft>
              <a:defRPr sz="1400" b="1">
                <a:solidFill>
                  <a:srgbClr val="F8FAFC"/>
                </a:solidFill>
                <a:latin typeface="Microsoft JhengHei"/>
              </a:defRPr>
            </a:pPr>
            <a:r>
              <a:t>📖 50頁 HTML 互動簡報</a:t>
            </a:r>
          </a:p>
          <a:p>
            <a:pPr>
              <a:spcAft>
                <a:spcPts val="1200"/>
              </a:spcAft>
              <a:defRPr sz="1100">
                <a:solidFill>
                  <a:srgbClr val="94A3B8"/>
                </a:solidFill>
                <a:latin typeface="Microsoft JhengHei"/>
              </a:defRPr>
            </a:pPr>
            <a:r>
              <a:t>使用 Reveal.js 嵌入式開發，具備左側同步目錄導覽與 P13 對比拉桿，內嵌 6 道素養討論題，收集學生反思寫入 Sheet。</a:t>
            </a:r>
          </a:p>
          <a:p>
            <a:pPr>
              <a:spcAft>
                <a:spcPts val="400"/>
              </a:spcAft>
              <a:defRPr sz="1400" b="1">
                <a:solidFill>
                  <a:srgbClr val="F8FAFC"/>
                </a:solidFill>
                <a:latin typeface="Microsoft JhengHei"/>
              </a:defRPr>
            </a:pPr>
            <a:r>
              <a:t>🎮 四階段冒險闖關遊戲</a:t>
            </a:r>
          </a:p>
          <a:p>
            <a:pPr>
              <a:spcAft>
                <a:spcPts val="1200"/>
              </a:spcAft>
              <a:defRPr sz="1100">
                <a:solidFill>
                  <a:srgbClr val="94A3B8"/>
                </a:solidFill>
                <a:latin typeface="Microsoft JhengHei"/>
              </a:defRPr>
            </a:pPr>
            <a:r>
              <a:t>包含單選題、連連看配對、不低於50字規章體檢簡答、修復式對話排序等題型。強制 20 分鐘研討長度，串接同一個 Google Sheet API。</a:t>
            </a:r>
          </a:p>
          <a:p>
            <a:pPr>
              <a:spcAft>
                <a:spcPts val="400"/>
              </a:spcAft>
              <a:defRPr sz="1400" b="1">
                <a:solidFill>
                  <a:srgbClr val="F8FAFC"/>
                </a:solidFill>
                <a:latin typeface="Microsoft JhengHei"/>
              </a:defRPr>
            </a:pPr>
            <a:r>
              <a:t>☁️ 無伺服器 GAS 連線後端</a:t>
            </a:r>
          </a:p>
          <a:p>
            <a:pPr>
              <a:spcAft>
                <a:spcPts val="1200"/>
              </a:spcAft>
              <a:defRPr sz="1100">
                <a:solidFill>
                  <a:srgbClr val="94A3B8"/>
                </a:solidFill>
                <a:latin typeface="Microsoft JhengHei"/>
              </a:defRPr>
            </a:pPr>
            <a:r>
              <a:t>以 Google Apps Script 為 API 橋樑，串接 Google Sheets。支援欄位自動遷移功能（舊表自動追加簡答欄位）。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91440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A855F7"/>
                </a:solidFill>
                <a:latin typeface="Arial"/>
              </a:defRPr>
            </a:pPr>
            <a:r>
              <a:t>專案技術手冊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40080"/>
            <a:ext cx="1078992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600" b="1">
                <a:solidFill>
                  <a:srgbClr val="F8FAFC"/>
                </a:solidFill>
                <a:latin typeface="Microsoft JhengHei"/>
              </a:defRPr>
            </a:pPr>
            <a:r>
              <a:t>系統架構：安全無伺服器 (Serverless) 數據通道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371600"/>
            <a:ext cx="10820095" cy="18288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645920"/>
            <a:ext cx="10789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F8FAFC"/>
                </a:solidFill>
                <a:latin typeface="Microsoft JhengHei"/>
              </a:defRPr>
            </a:pPr>
            <a:r>
              <a:t>平台採取「前端託管 + Serverless API 後端 + Google Sheet 資料庫」之現代輕量化架構，不向前端暴露 API 金鑰，且能抵禦跨網域 (CORS) 阻擋。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2377440"/>
            <a:ext cx="2468880" cy="3474720"/>
          </a:xfrm>
          <a:prstGeom prst="rect">
            <a:avLst/>
          </a:prstGeom>
          <a:solidFill>
            <a:srgbClr val="151D3B"/>
          </a:solidFill>
          <a:ln w="19050">
            <a:solidFill>
              <a:srgbClr val="0EA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560320"/>
            <a:ext cx="219456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600" b="1">
                <a:solidFill>
                  <a:srgbClr val="0EA5E9"/>
                </a:solidFill>
                <a:latin typeface="Microsoft JhengHei"/>
              </a:defRPr>
            </a:pPr>
            <a:r>
              <a:t>1. 前端靜態頁面</a:t>
            </a:r>
          </a:p>
          <a:p>
            <a:pPr>
              <a:spcAft>
                <a:spcPts val="1500"/>
              </a:spcAft>
              <a:defRPr sz="1100" b="1">
                <a:solidFill>
                  <a:srgbClr val="F8FAFC"/>
                </a:solidFill>
                <a:latin typeface="Microsoft JhengHei"/>
              </a:defRPr>
            </a:pPr>
            <a:r>
              <a:t>GitHub Pages 託管</a:t>
            </a:r>
          </a:p>
          <a:p>
            <a:pPr>
              <a:lnSpc>
                <a:spcPct val="130000"/>
              </a:lnSpc>
              <a:defRPr sz="1150">
                <a:solidFill>
                  <a:srgbClr val="94A3B8"/>
                </a:solidFill>
                <a:latin typeface="Microsoft JhengHei"/>
              </a:defRPr>
            </a:pPr>
            <a:r>
              <a:t>以相對路徑整合 HTML5 / CSS3 / Vanilla JS 引擎，靜態網頁可極速加載，無伺服器維護成本。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3429000" y="2377440"/>
            <a:ext cx="2468880" cy="3474720"/>
          </a:xfrm>
          <a:prstGeom prst="rect">
            <a:avLst/>
          </a:prstGeom>
          <a:solidFill>
            <a:srgbClr val="151D3B"/>
          </a:solidFill>
          <a:ln w="19050"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566160" y="2560320"/>
            <a:ext cx="219456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600" b="1">
                <a:solidFill>
                  <a:srgbClr val="A855F7"/>
                </a:solidFill>
                <a:latin typeface="Microsoft JhengHei"/>
              </a:defRPr>
            </a:pPr>
            <a:r>
              <a:t>2. 安全 API 請求</a:t>
            </a:r>
          </a:p>
          <a:p>
            <a:pPr>
              <a:spcAft>
                <a:spcPts val="1500"/>
              </a:spcAft>
              <a:defRPr sz="1100" b="1">
                <a:solidFill>
                  <a:srgbClr val="F8FAFC"/>
                </a:solidFill>
                <a:latin typeface="Microsoft JhengHei"/>
              </a:defRPr>
            </a:pPr>
            <a:r>
              <a:t>HTTPS POST (No-CORS)</a:t>
            </a:r>
          </a:p>
          <a:p>
            <a:pPr>
              <a:lnSpc>
                <a:spcPct val="130000"/>
              </a:lnSpc>
              <a:defRPr sz="1150">
                <a:solidFill>
                  <a:srgbClr val="94A3B8"/>
                </a:solidFill>
                <a:latin typeface="Microsoft JhengHei"/>
              </a:defRPr>
            </a:pPr>
            <a:r>
              <a:t>前端 ConfigManager 將簡報反思與遊戲得分封裝為 JSON，使用 no-cors 模式發送至 GAS，免除 pre-flight 阻擋。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72200" y="2377440"/>
            <a:ext cx="2468880" cy="3474720"/>
          </a:xfrm>
          <a:prstGeom prst="rect">
            <a:avLst/>
          </a:prstGeom>
          <a:solidFill>
            <a:srgbClr val="151D3B"/>
          </a:solidFill>
          <a:ln w="19050">
            <a:solidFill>
              <a:srgbClr val="0EA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09360" y="2560320"/>
            <a:ext cx="219456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600" b="1">
                <a:solidFill>
                  <a:srgbClr val="0EA5E9"/>
                </a:solidFill>
                <a:latin typeface="Microsoft JhengHei"/>
              </a:defRPr>
            </a:pPr>
            <a:r>
              <a:t>3. 中繼處理引擎</a:t>
            </a:r>
          </a:p>
          <a:p>
            <a:pPr>
              <a:spcAft>
                <a:spcPts val="1500"/>
              </a:spcAft>
              <a:defRPr sz="1100" b="1">
                <a:solidFill>
                  <a:srgbClr val="F8FAFC"/>
                </a:solidFill>
                <a:latin typeface="Microsoft JhengHei"/>
              </a:defRPr>
            </a:pPr>
            <a:r>
              <a:t>Google Apps Script</a:t>
            </a:r>
          </a:p>
          <a:p>
            <a:pPr>
              <a:lnSpc>
                <a:spcPct val="130000"/>
              </a:lnSpc>
              <a:defRPr sz="1150">
                <a:solidFill>
                  <a:srgbClr val="94A3B8"/>
                </a:solidFill>
                <a:latin typeface="Microsoft JhengHei"/>
              </a:defRPr>
            </a:pPr>
            <a:r>
              <a:t>執行部署為 Web App 的 Code.gs 腳本，以「版主帳號執行」身分取得 Sheets 寫入權限，安全隔離金鑰。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915400" y="2377440"/>
            <a:ext cx="2468880" cy="3474720"/>
          </a:xfrm>
          <a:prstGeom prst="rect">
            <a:avLst/>
          </a:prstGeom>
          <a:solidFill>
            <a:srgbClr val="151D3B"/>
          </a:solidFill>
          <a:ln w="19050"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052560" y="2560320"/>
            <a:ext cx="219456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600" b="1">
                <a:solidFill>
                  <a:srgbClr val="A855F7"/>
                </a:solidFill>
                <a:latin typeface="Microsoft JhengHei"/>
              </a:defRPr>
            </a:pPr>
            <a:r>
              <a:t>4. 雲端資料庫</a:t>
            </a:r>
          </a:p>
          <a:p>
            <a:pPr>
              <a:spcAft>
                <a:spcPts val="1500"/>
              </a:spcAft>
              <a:defRPr sz="1100" b="1">
                <a:solidFill>
                  <a:srgbClr val="F8FAFC"/>
                </a:solidFill>
                <a:latin typeface="Microsoft JhengHei"/>
              </a:defRPr>
            </a:pPr>
            <a:r>
              <a:t>Google Sheet 試算表</a:t>
            </a:r>
          </a:p>
          <a:p>
            <a:pPr>
              <a:lnSpc>
                <a:spcPct val="130000"/>
              </a:lnSpc>
              <a:defRPr sz="1150">
                <a:solidFill>
                  <a:srgbClr val="94A3B8"/>
                </a:solidFill>
                <a:latin typeface="Microsoft JhengHei"/>
              </a:defRPr>
            </a:pPr>
            <a:r>
              <a:t>自動化新增分頁 slides_feedback 與 game_scores，提供自動表頭遷移與資料記錄列追增。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91440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A855F7"/>
                </a:solidFill>
                <a:latin typeface="Arial"/>
              </a:defRPr>
            </a:pPr>
            <a:r>
              <a:t>專案技術手冊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40080"/>
            <a:ext cx="1078992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600" b="1">
                <a:solidFill>
                  <a:srgbClr val="F8FAFC"/>
                </a:solidFill>
                <a:latin typeface="Microsoft JhengHei"/>
              </a:defRPr>
            </a:pPr>
            <a:r>
              <a:t>簡報系統開發：左目錄側欄與身份登錄機制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371600"/>
            <a:ext cx="10820095" cy="18288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85800" y="1645920"/>
            <a:ext cx="5303520" cy="4389120"/>
          </a:xfrm>
          <a:prstGeom prst="rect">
            <a:avLst/>
          </a:prstGeom>
          <a:solidFill>
            <a:srgbClr val="151D3B"/>
          </a:solidFill>
          <a:ln w="19050">
            <a:solidFill>
              <a:srgbClr val="0EA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1920240"/>
            <a:ext cx="466344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0"/>
              </a:spcAft>
              <a:defRPr sz="1800" b="1">
                <a:solidFill>
                  <a:srgbClr val="0EA5E9"/>
                </a:solidFill>
                <a:latin typeface="Microsoft JhengHei"/>
              </a:defRPr>
            </a:pPr>
            <a:r>
              <a:t>🛠️ 簡報頁面重構與技術實作</a:t>
            </a:r>
          </a:p>
          <a:p>
            <a:pPr>
              <a:spcAft>
                <a:spcPts val="200"/>
              </a:spcAft>
              <a:defRPr sz="1300" b="1">
                <a:solidFill>
                  <a:srgbClr val="F8FAFC"/>
                </a:solidFill>
                <a:latin typeface="Microsoft JhengHei"/>
              </a:defRPr>
            </a:pPr>
            <a:r>
              <a:t>✔ 嵌入式 Reveal.js 實作</a:t>
            </a:r>
          </a:p>
          <a:p>
            <a:pPr>
              <a:spcAft>
                <a:spcPts val="1000"/>
              </a:spcAft>
              <a:defRPr sz="1100">
                <a:solidFill>
                  <a:srgbClr val="94A3B8"/>
                </a:solidFill>
                <a:latin typeface="Microsoft JhengHei"/>
              </a:defRPr>
            </a:pPr>
            <a:r>
              <a:t>   將簡報初始化設為 `embedded: true`，使其精準限縮於右側展示視窗內，保留左側導覽排版。</a:t>
            </a:r>
          </a:p>
          <a:p>
            <a:pPr>
              <a:spcAft>
                <a:spcPts val="200"/>
              </a:spcAft>
              <a:defRPr sz="1300" b="1">
                <a:solidFill>
                  <a:srgbClr val="F8FAFC"/>
                </a:solidFill>
                <a:latin typeface="Microsoft JhengHei"/>
              </a:defRPr>
            </a:pPr>
            <a:r>
              <a:t>✔ 左側目錄與雙向同步</a:t>
            </a:r>
          </a:p>
          <a:p>
            <a:pPr>
              <a:spcAft>
                <a:spcPts val="1000"/>
              </a:spcAft>
              <a:defRPr sz="1100">
                <a:solidFill>
                  <a:srgbClr val="94A3B8"/>
                </a:solidFill>
                <a:latin typeface="Microsoft JhengHei"/>
              </a:defRPr>
            </a:pPr>
            <a:r>
              <a:t>   使用 Vanilla JS 歷遍 50 頁 section 提取標題，動態生成左側 TOC 目錄；翻頁時自動滾動並高亮對應項目。</a:t>
            </a:r>
          </a:p>
          <a:p>
            <a:pPr>
              <a:spcAft>
                <a:spcPts val="200"/>
              </a:spcAft>
              <a:defRPr sz="1300" b="1">
                <a:solidFill>
                  <a:srgbClr val="F8FAFC"/>
                </a:solidFill>
                <a:latin typeface="Microsoft JhengHei"/>
              </a:defRPr>
            </a:pPr>
            <a:r>
              <a:t>✔ 學生身份驗證鎖定</a:t>
            </a:r>
          </a:p>
          <a:p>
            <a:pPr>
              <a:spcAft>
                <a:spcPts val="1000"/>
              </a:spcAft>
              <a:defRPr sz="1100">
                <a:solidFill>
                  <a:srgbClr val="94A3B8"/>
                </a:solidFill>
                <a:latin typeface="Microsoft JhengHei"/>
              </a:defRPr>
            </a:pPr>
            <a:r>
              <a:t>   簡報開啟時彈出 Glassmorphism 遮罩，強制輸入姓名及系級。未登錄前鎖定鍵盤翻頁，資料儲存於 sessionStorage 中。</a:t>
            </a:r>
          </a:p>
          <a:p>
            <a:pPr>
              <a:spcAft>
                <a:spcPts val="200"/>
              </a:spcAft>
              <a:defRPr sz="1300" b="1">
                <a:solidFill>
                  <a:srgbClr val="F8FAFC"/>
                </a:solidFill>
                <a:latin typeface="Microsoft JhengHei"/>
              </a:defRPr>
            </a:pPr>
            <a:r>
              <a:t>✔ 素養討論題目標記</a:t>
            </a:r>
          </a:p>
          <a:p>
            <a:pPr>
              <a:spcAft>
                <a:spcPts val="1000"/>
              </a:spcAft>
              <a:defRPr sz="1100">
                <a:solidFill>
                  <a:srgbClr val="94A3B8"/>
                </a:solidFill>
                <a:latin typeface="Microsoft JhengHei"/>
              </a:defRPr>
            </a:pPr>
            <a:r>
              <a:t>   六大討論框重新包裝為『素養討論一』至『六』。學生點擊送出後，夾帶登錄的身份資料以 no-cors 模式傳送至 Sheet。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6217920" y="1645920"/>
            <a:ext cx="5257800" cy="4389120"/>
          </a:xfrm>
          <a:prstGeom prst="rect">
            <a:avLst/>
          </a:prstGeom>
          <a:solidFill>
            <a:srgbClr val="151D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92240" y="1920240"/>
            <a:ext cx="47091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1">
                <a:solidFill>
                  <a:srgbClr val="F8FAFC"/>
                </a:solidFill>
                <a:latin typeface="Microsoft JhengHei"/>
              </a:defRPr>
            </a:pPr>
            <a:r>
              <a:t>📋 核心代碼架構參考 (JavaScript)</a:t>
            </a:r>
          </a:p>
          <a:p>
            <a:pPr>
              <a:spcAft>
                <a:spcPts val="300"/>
              </a:spcAft>
              <a:defRPr sz="1050">
                <a:solidFill>
                  <a:srgbClr val="0EA5E9"/>
                </a:solidFill>
                <a:latin typeface="Consolas"/>
              </a:defRPr>
            </a:pPr>
            <a:r>
              <a:t>// 1. 初始化嵌入簡報</a:t>
            </a:r>
          </a:p>
          <a:p>
            <a:pPr>
              <a:spcAft>
                <a:spcPts val="300"/>
              </a:spcAft>
              <a:defRPr sz="1050">
                <a:solidFill>
                  <a:srgbClr val="94A3B8"/>
                </a:solidFill>
                <a:latin typeface="Consolas"/>
              </a:defRPr>
            </a:pPr>
            <a:r>
              <a:t>Reveal.initialize({ embedded: true, controls: true });</a:t>
            </a:r>
          </a:p>
          <a:p>
            <a:pPr>
              <a:spcAft>
                <a:spcPts val="300"/>
              </a:spcAft>
              <a:defRPr sz="1050">
                <a:solidFill>
                  <a:srgbClr val="94A3B8"/>
                </a:solidFill>
                <a:latin typeface="Consolas"/>
              </a:defRPr>
            </a:pPr>
          </a:p>
          <a:p>
            <a:pPr>
              <a:spcAft>
                <a:spcPts val="300"/>
              </a:spcAft>
              <a:defRPr sz="1050">
                <a:solidFill>
                  <a:srgbClr val="0EA5E9"/>
                </a:solidFill>
                <a:latin typeface="Consolas"/>
              </a:defRPr>
            </a:pPr>
            <a:r>
              <a:t>// 2. 身份登錄控制與 Session 鎖定</a:t>
            </a:r>
          </a:p>
          <a:p>
            <a:pPr>
              <a:spcAft>
                <a:spcPts val="300"/>
              </a:spcAft>
              <a:defRPr sz="1050">
                <a:solidFill>
                  <a:srgbClr val="94A3B8"/>
                </a:solidFill>
                <a:latin typeface="Consolas"/>
              </a:defRPr>
            </a:pPr>
            <a:r>
              <a:t>function closeAuthModal(name, dept) {</a:t>
            </a:r>
          </a:p>
          <a:p>
            <a:pPr>
              <a:spcAft>
                <a:spcPts val="300"/>
              </a:spcAft>
              <a:defRPr sz="1050">
                <a:solidFill>
                  <a:srgbClr val="94A3B8"/>
                </a:solidFill>
                <a:latin typeface="Consolas"/>
              </a:defRPr>
            </a:pPr>
            <a:r>
              <a:t>  sessionStorage.setItem('name', name);</a:t>
            </a:r>
          </a:p>
          <a:p>
            <a:pPr>
              <a:spcAft>
                <a:spcPts val="300"/>
              </a:spcAft>
              <a:defRPr sz="1050">
                <a:solidFill>
                  <a:srgbClr val="94A3B8"/>
                </a:solidFill>
                <a:latin typeface="Consolas"/>
              </a:defRPr>
            </a:pPr>
            <a:r>
              <a:t>  Reveal.configure({ keyboard: true }); // 解鎖鍵盤</a:t>
            </a:r>
          </a:p>
          <a:p>
            <a:pPr>
              <a:spcAft>
                <a:spcPts val="300"/>
              </a:spcAft>
              <a:defRPr sz="1050">
                <a:solidFill>
                  <a:srgbClr val="94A3B8"/>
                </a:solidFill>
                <a:latin typeface="Consolas"/>
              </a:defRPr>
            </a:pPr>
            <a:r>
              <a:t>}</a:t>
            </a:r>
          </a:p>
          <a:p>
            <a:pPr>
              <a:spcAft>
                <a:spcPts val="300"/>
              </a:spcAft>
              <a:defRPr sz="1050">
                <a:solidFill>
                  <a:srgbClr val="94A3B8"/>
                </a:solidFill>
                <a:latin typeface="Consolas"/>
              </a:defRPr>
            </a:pPr>
          </a:p>
          <a:p>
            <a:pPr>
              <a:spcAft>
                <a:spcPts val="300"/>
              </a:spcAft>
              <a:defRPr sz="1050">
                <a:solidFill>
                  <a:srgbClr val="0EA5E9"/>
                </a:solidFill>
                <a:latin typeface="Consolas"/>
              </a:defRPr>
            </a:pPr>
            <a:r>
              <a:t>// 3. 簡報反思資料封裝傳送</a:t>
            </a:r>
          </a:p>
          <a:p>
            <a:pPr>
              <a:spcAft>
                <a:spcPts val="300"/>
              </a:spcAft>
              <a:defRPr sz="1050">
                <a:solidFill>
                  <a:srgbClr val="94A3B8"/>
                </a:solidFill>
                <a:latin typeface="Consolas"/>
              </a:defRPr>
            </a:pPr>
            <a:r>
              <a:t>const payload = { PlayerName: name, Department: dept,</a:t>
            </a:r>
          </a:p>
          <a:p>
            <a:pPr>
              <a:spcAft>
                <a:spcPts val="300"/>
              </a:spcAft>
              <a:defRPr sz="1050">
                <a:solidFill>
                  <a:srgbClr val="94A3B8"/>
                </a:solidFill>
                <a:latin typeface="Consolas"/>
              </a:defRPr>
            </a:pPr>
            <a:r>
              <a:t>  SlideNumber: num, ResponseText: text };</a:t>
            </a:r>
          </a:p>
          <a:p>
            <a:pPr>
              <a:spcAft>
                <a:spcPts val="300"/>
              </a:spcAft>
              <a:defRPr sz="1050">
                <a:solidFill>
                  <a:srgbClr val="94A3B8"/>
                </a:solidFill>
                <a:latin typeface="Consolas"/>
              </a:defRPr>
            </a:pPr>
            <a:r>
              <a:t>ConfigManager.sendData('slides_feedback', payload);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91440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A855F7"/>
                </a:solidFill>
                <a:latin typeface="Arial"/>
              </a:defRPr>
            </a:pPr>
            <a:r>
              <a:t>專案技術手冊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40080"/>
            <a:ext cx="1078992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600" b="1">
                <a:solidFill>
                  <a:srgbClr val="F8FAFC"/>
                </a:solidFill>
                <a:latin typeface="Microsoft JhengHei"/>
              </a:defRPr>
            </a:pPr>
            <a:r>
              <a:t>簡報互動對比拉桿：『沒有 CRC』覆蓋『有 CRC』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371600"/>
            <a:ext cx="10820095" cy="18288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85800" y="1645920"/>
            <a:ext cx="10789920" cy="2194560"/>
          </a:xfrm>
          <a:prstGeom prst="rect">
            <a:avLst/>
          </a:prstGeom>
          <a:solidFill>
            <a:srgbClr val="151D3B"/>
          </a:solidFill>
          <a:ln w="19050">
            <a:solidFill>
              <a:srgbClr val="0EA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828800"/>
            <a:ext cx="10058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 b="1">
                <a:solidFill>
                  <a:srgbClr val="0EA5E9"/>
                </a:solidFill>
                <a:latin typeface="Microsoft JhengHei"/>
              </a:defRPr>
            </a:pPr>
            <a:r>
              <a:t>🎨 雙層 z-index 遮罩與拖曳邏輯</a:t>
            </a:r>
          </a:p>
          <a:p>
            <a:pPr>
              <a:spcAft>
                <a:spcPts val="1000"/>
              </a:spcAft>
              <a:defRPr sz="1300">
                <a:solidFill>
                  <a:srgbClr val="F8FAFC"/>
                </a:solidFill>
                <a:latin typeface="Microsoft JhengHei"/>
              </a:defRPr>
            </a:pPr>
            <a:r>
              <a:t>位於簡報 P13。設計目標是向右拉動拉桿時，「沒有 CRC (威權校園)」覆蓋蓋住底層「有 CRC (人權校園)」的字體與內容。我們採用絕對定位與 overflow: hidden 技術實作剪裁效果：</a:t>
            </a:r>
          </a:p>
          <a:p>
            <a:pPr>
              <a:lnSpc>
                <a:spcPct val="130000"/>
              </a:lnSpc>
              <a:defRPr sz="1200">
                <a:solidFill>
                  <a:srgbClr val="94A3B8"/>
                </a:solidFill>
                <a:latin typeface="Microsoft JhengHei"/>
              </a:defRPr>
            </a:pPr>
            <a:r>
              <a:t>• 底層 (z-index 1)：有 CRC 面板 (after-panel)，滿寬 background 固定顯示於右側。</a:t>
            </a:r>
            <a:br/>
            <a:r>
              <a:t>• 頂層 (z-index 2)：沒有 CRC 面板 (before-panel)，定位於左側，width 設為 percentage% 並設為 overflow: hidden 以防止內文折行。</a:t>
            </a:r>
            <a:br/>
            <a:r>
              <a:t>• 拉桿 (z-index 10)：發光拖曳軸，點選後監聽 mousedown 與 touchstart 事件，即時更新 percentage 數值。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4023360"/>
            <a:ext cx="10789920" cy="2194560"/>
          </a:xfrm>
          <a:prstGeom prst="rect">
            <a:avLst/>
          </a:prstGeom>
          <a:solidFill>
            <a:srgbClr val="151D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4206240"/>
            <a:ext cx="10058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F8FAFC"/>
                </a:solidFill>
                <a:latin typeface="Microsoft JhengHei"/>
              </a:defRPr>
            </a:pPr>
            <a:r>
              <a:t>💻 核心拖動計算代碼 (JavaScript)</a:t>
            </a:r>
          </a:p>
          <a:p>
            <a:pPr>
              <a:lnSpc>
                <a:spcPct val="125000"/>
              </a:lnSpc>
              <a:defRPr sz="1150">
                <a:solidFill>
                  <a:srgbClr val="94A3B8"/>
                </a:solidFill>
                <a:latin typeface="Consolas"/>
              </a:defRPr>
            </a:pPr>
            <a:r>
              <a:t>function move(clientX) {</a:t>
            </a:r>
            <a:br/>
            <a:r>
              <a:t>  const rect = container.getBoundingClientRect();</a:t>
            </a:r>
            <a:br/>
            <a:r>
              <a:t>  let percentage = ((clientX - rect.left) / rect.width) * 100;</a:t>
            </a:r>
            <a:br/>
            <a:r>
              <a:t>  percentage = Math.max(3, Math.min(97, percentage)); // 限制範圍，防把把手拉出邊界</a:t>
            </a:r>
            <a:br/>
            <a:r>
              <a:t>  handle.style.left = `${percentage}%`;              // 拉桿定位</a:t>
            </a:r>
            <a:br/>
            <a:r>
              <a:t>  beforePanel.style.width = `${percentage}%`;        // 沒有 CRC 覆蓋寬度 (z-index 2)</a:t>
            </a:r>
            <a:br/>
            <a:r>
              <a:t>}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91440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A855F7"/>
                </a:solidFill>
                <a:latin typeface="Arial"/>
              </a:defRPr>
            </a:pPr>
            <a:r>
              <a:t>專案技術手冊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40080"/>
            <a:ext cx="1078992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600" b="1">
                <a:solidFill>
                  <a:srgbClr val="F8FAFC"/>
                </a:solidFill>
                <a:latin typeface="Microsoft JhengHei"/>
              </a:defRPr>
            </a:pPr>
            <a:r>
              <a:t>遊戲系統開發：四階段闖關與多樣化題型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371600"/>
            <a:ext cx="10820095" cy="18288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85800" y="1645920"/>
            <a:ext cx="5303520" cy="4389120"/>
          </a:xfrm>
          <a:prstGeom prst="rect">
            <a:avLst/>
          </a:prstGeom>
          <a:solidFill>
            <a:srgbClr val="151D3B"/>
          </a:solidFill>
          <a:ln w="19050"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920240"/>
            <a:ext cx="45720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700" b="1">
                <a:solidFill>
                  <a:srgbClr val="A855F7"/>
                </a:solidFill>
                <a:latin typeface="Microsoft JhengHei"/>
              </a:defRPr>
            </a:pPr>
            <a:r>
              <a:t>🚩 四關卡防呆與 20 分鐘學習深度</a:t>
            </a:r>
          </a:p>
          <a:p>
            <a:pPr>
              <a:spcAft>
                <a:spcPts val="200"/>
              </a:spcAft>
              <a:defRPr sz="1250" b="1">
                <a:solidFill>
                  <a:srgbClr val="F8FAFC"/>
                </a:solidFill>
                <a:latin typeface="Microsoft JhengHei"/>
              </a:defRPr>
            </a:pPr>
            <a:r>
              <a:t>✦ 階段一：法規知識奠基 (選擇 + 配合)</a:t>
            </a:r>
          </a:p>
          <a:p>
            <a:pPr>
              <a:spcAft>
                <a:spcPts val="800"/>
              </a:spcAft>
              <a:defRPr sz="1100">
                <a:solidFill>
                  <a:srgbClr val="94A3B8"/>
                </a:solidFill>
                <a:latin typeface="Microsoft JhengHei"/>
              </a:defRPr>
            </a:pPr>
            <a:r>
              <a:t>進行 4 題選擇題與 1 組條文配對連連看。將第 12、16、28、31 條與校園場景配對正確後解鎖。</a:t>
            </a:r>
          </a:p>
          <a:p>
            <a:pPr>
              <a:spcAft>
                <a:spcPts val="200"/>
              </a:spcAft>
              <a:defRPr sz="1250" b="1">
                <a:solidFill>
                  <a:srgbClr val="F8FAFC"/>
                </a:solidFill>
                <a:latin typeface="Microsoft JhengHei"/>
              </a:defRPr>
            </a:pPr>
            <a:r>
              <a:t>✦ 階段二：衝突抉擇現場 (情境題)</a:t>
            </a:r>
          </a:p>
          <a:p>
            <a:pPr>
              <a:spcAft>
                <a:spcPts val="800"/>
              </a:spcAft>
              <a:defRPr sz="1100">
                <a:solidFill>
                  <a:srgbClr val="94A3B8"/>
                </a:solidFill>
                <a:latin typeface="Microsoft JhengHei"/>
              </a:defRPr>
            </a:pPr>
            <a:r>
              <a:t>導師面臨全班搜包、延後上學、大衣處分及晤談隱私等情境，即時改變 HUD (CRC、秩序、專業) 三項指標並記錄日誌。</a:t>
            </a:r>
          </a:p>
          <a:p>
            <a:pPr>
              <a:spcAft>
                <a:spcPts val="200"/>
              </a:spcAft>
              <a:defRPr sz="1250" b="1">
                <a:solidFill>
                  <a:srgbClr val="F8FAFC"/>
                </a:solidFill>
                <a:latin typeface="Microsoft JhengHei"/>
              </a:defRPr>
            </a:pPr>
            <a:r>
              <a:t>✦ 階段三：規章體檢批判 (簡答題)</a:t>
            </a:r>
          </a:p>
          <a:p>
            <a:pPr>
              <a:spcAft>
                <a:spcPts val="800"/>
              </a:spcAft>
              <a:defRPr sz="1100">
                <a:solidFill>
                  <a:srgbClr val="94A3B8"/>
                </a:solidFill>
                <a:latin typeface="Microsoft JhengHei"/>
              </a:defRPr>
            </a:pPr>
            <a:r>
              <a:t>批判「連坐罰愛校」與「沒收手機至期末」之校規班規。每題設有 50 字限制，字數不足鎖定下一關，保證研習時長。</a:t>
            </a:r>
          </a:p>
          <a:p>
            <a:pPr>
              <a:spcAft>
                <a:spcPts val="200"/>
              </a:spcAft>
              <a:defRPr sz="1250" b="1">
                <a:solidFill>
                  <a:srgbClr val="F8FAFC"/>
                </a:solidFill>
                <a:latin typeface="Microsoft JhengHei"/>
              </a:defRPr>
            </a:pPr>
            <a:r>
              <a:t>✦ 階段四：民主共創未來 (排序 + 宣言)</a:t>
            </a:r>
          </a:p>
          <a:p>
            <a:pPr>
              <a:spcAft>
                <a:spcPts val="800"/>
              </a:spcAft>
              <a:defRPr sz="1100">
                <a:solidFill>
                  <a:srgbClr val="94A3B8"/>
                </a:solidFill>
                <a:latin typeface="Microsoft JhengHei"/>
              </a:defRPr>
            </a:pPr>
            <a:r>
              <a:t>將修復式正義對話的 5 步驟進行排序（還原、同理、影響、彌補、行動），並撰寫 30 字班級自治宣言。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6217920" y="1645920"/>
            <a:ext cx="5257800" cy="4389120"/>
          </a:xfrm>
          <a:prstGeom prst="rect">
            <a:avLst/>
          </a:prstGeom>
          <a:solidFill>
            <a:srgbClr val="151D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0" y="1920240"/>
            <a:ext cx="452628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0"/>
              </a:spcAft>
              <a:defRPr sz="1700" b="1">
                <a:solidFill>
                  <a:srgbClr val="F8FAFC"/>
                </a:solidFill>
                <a:latin typeface="Microsoft JhengHei"/>
              </a:defRPr>
            </a:pPr>
            <a:r>
              <a:t>🎯 多樣題型核心控制機制</a:t>
            </a:r>
          </a:p>
          <a:p>
            <a:pPr>
              <a:spcAft>
                <a:spcPts val="200"/>
              </a:spcAft>
              <a:defRPr sz="1300" b="1">
                <a:solidFill>
                  <a:srgbClr val="0EA5E9"/>
                </a:solidFill>
                <a:latin typeface="Microsoft JhengHei"/>
              </a:defRPr>
            </a:pPr>
            <a:r>
              <a:t>▪ 連連看點選配對 (Matching)</a:t>
            </a:r>
          </a:p>
          <a:p>
            <a:pPr>
              <a:spcAft>
                <a:spcPts val="1000"/>
              </a:spcAft>
              <a:defRPr sz="1100">
                <a:solidFill>
                  <a:srgbClr val="94A3B8"/>
                </a:solidFill>
                <a:latin typeface="Microsoft JhengHei"/>
              </a:defRPr>
            </a:pPr>
            <a:r>
              <a:t>採用「點選左側 Card 再點選右側 Card」方式進行。配對成功則 Card 轉為綠色並鎖定，防止傳統 drag-and-drop 在行動裝置上的 RWD 跑位問題。</a:t>
            </a:r>
          </a:p>
          <a:p>
            <a:pPr>
              <a:spcAft>
                <a:spcPts val="200"/>
              </a:spcAft>
              <a:defRPr sz="1300" b="1">
                <a:solidFill>
                  <a:srgbClr val="0EA5E9"/>
                </a:solidFill>
                <a:latin typeface="Microsoft JhengHei"/>
              </a:defRPr>
            </a:pPr>
            <a:r>
              <a:t>▪ 簡答字數防呆驗證 (Character Limit)</a:t>
            </a:r>
          </a:p>
          <a:p>
            <a:pPr>
              <a:spcAft>
                <a:spcPts val="1000"/>
              </a:spcAft>
              <a:defRPr sz="1100">
                <a:solidFill>
                  <a:srgbClr val="94A3B8"/>
                </a:solidFill>
                <a:latin typeface="Microsoft JhengHei"/>
              </a:defRPr>
            </a:pPr>
            <a:r>
              <a:t>監聽 textarea 的 input 事件，動態計算字數長度，未滿 minChars 前 Next 按鈕禁用並高亮提示，確保學生深入反思寫作。</a:t>
            </a:r>
          </a:p>
          <a:p>
            <a:pPr>
              <a:spcAft>
                <a:spcPts val="200"/>
              </a:spcAft>
              <a:defRPr sz="1300" b="1">
                <a:solidFill>
                  <a:srgbClr val="0EA5E9"/>
                </a:solidFill>
                <a:latin typeface="Microsoft JhengHei"/>
              </a:defRPr>
            </a:pPr>
            <a:r>
              <a:t>▪ 對話排序連線戰 (Sorting)</a:t>
            </a:r>
          </a:p>
          <a:p>
            <a:pPr>
              <a:spcAft>
                <a:spcPts val="1000"/>
              </a:spcAft>
              <a:defRPr sz="1100">
                <a:solidFill>
                  <a:srgbClr val="94A3B8"/>
                </a:solidFill>
                <a:latin typeface="Microsoft JhengHei"/>
              </a:defRPr>
            </a:pPr>
            <a:r>
              <a:t>利用序列存儲使用者的點擊順序。每點選一個步驟即送入 user-list，並在 complete 時比對 correctOrder 陣列。若出錯點擊可自 user-list 中取消。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91440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A855F7"/>
                </a:solidFill>
                <a:latin typeface="Arial"/>
              </a:defRPr>
            </a:pPr>
            <a:r>
              <a:t>專案技術手冊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40080"/>
            <a:ext cx="1078992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600" b="1">
                <a:solidFill>
                  <a:srgbClr val="F8FAFC"/>
                </a:solidFill>
                <a:latin typeface="Microsoft JhengHei"/>
              </a:defRPr>
            </a:pPr>
            <a:r>
              <a:t>Google Sheets 串接：四步驟快速建置 API 通道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371600"/>
            <a:ext cx="10820095" cy="18288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85800" y="1828800"/>
            <a:ext cx="2468880" cy="4206240"/>
          </a:xfrm>
          <a:prstGeom prst="rect">
            <a:avLst/>
          </a:prstGeom>
          <a:solidFill>
            <a:srgbClr val="151D3B"/>
          </a:solidFill>
          <a:ln w="19050">
            <a:solidFill>
              <a:srgbClr val="0EA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95528" y="2011680"/>
            <a:ext cx="2249424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600" b="1">
                <a:solidFill>
                  <a:srgbClr val="0EA5E9"/>
                </a:solidFill>
                <a:latin typeface="Microsoft JhengHei"/>
              </a:defRPr>
            </a:pPr>
            <a:r>
              <a:t>步驟一：新建試算表</a:t>
            </a:r>
          </a:p>
          <a:p>
            <a:pPr>
              <a:spcAft>
                <a:spcPts val="1500"/>
              </a:spcAft>
              <a:defRPr sz="1100" b="1">
                <a:solidFill>
                  <a:srgbClr val="F8FAFC"/>
                </a:solidFill>
                <a:latin typeface="Microsoft JhengHei"/>
              </a:defRPr>
            </a:pPr>
            <a:r>
              <a:t>建立 Database 載體</a:t>
            </a:r>
          </a:p>
          <a:p>
            <a:pPr>
              <a:lnSpc>
                <a:spcPct val="135000"/>
              </a:lnSpc>
              <a:spcAft>
                <a:spcPts val="800"/>
              </a:spcAft>
              <a:defRPr sz="1150">
                <a:solidFill>
                  <a:srgbClr val="94A3B8"/>
                </a:solidFill>
                <a:latin typeface="Microsoft JhengHei"/>
              </a:defRPr>
            </a:pPr>
            <a:r>
              <a:t>1. 登入 Google 雲端硬碟。</a:t>
            </a:r>
            <a:br/>
            <a:r>
              <a:t>2. 新建一個空白的「Google 試算表」，檔名可自由命名。</a:t>
            </a:r>
            <a:br/>
            <a:r>
              <a:t>3. 系統將會利用此表作為後端資料儲存中心。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3429000" y="1828800"/>
            <a:ext cx="2468880" cy="4206240"/>
          </a:xfrm>
          <a:prstGeom prst="rect">
            <a:avLst/>
          </a:prstGeom>
          <a:solidFill>
            <a:srgbClr val="151D3B"/>
          </a:solidFill>
          <a:ln w="19050"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538728" y="2011680"/>
            <a:ext cx="2249424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600" b="1">
                <a:solidFill>
                  <a:srgbClr val="A855F7"/>
                </a:solidFill>
                <a:latin typeface="Microsoft JhengHei"/>
              </a:defRPr>
            </a:pPr>
            <a:r>
              <a:t>步驟二：貼入後端程式</a:t>
            </a:r>
          </a:p>
          <a:p>
            <a:pPr>
              <a:spcAft>
                <a:spcPts val="1500"/>
              </a:spcAft>
              <a:defRPr sz="1100" b="1">
                <a:solidFill>
                  <a:srgbClr val="F8FAFC"/>
                </a:solidFill>
                <a:latin typeface="Microsoft JhengHei"/>
              </a:defRPr>
            </a:pPr>
            <a:r>
              <a:t>Apps Script 腳本編輯</a:t>
            </a:r>
          </a:p>
          <a:p>
            <a:pPr>
              <a:lnSpc>
                <a:spcPct val="135000"/>
              </a:lnSpc>
              <a:spcAft>
                <a:spcPts val="800"/>
              </a:spcAft>
              <a:defRPr sz="1150">
                <a:solidFill>
                  <a:srgbClr val="94A3B8"/>
                </a:solidFill>
                <a:latin typeface="Microsoft JhengHei"/>
              </a:defRPr>
            </a:pPr>
            <a:r>
              <a:t>1. 在試算表中點選「延伸功能」 &amp;rarr; 「Apps Script」。</a:t>
            </a:r>
            <a:br/>
            <a:r>
              <a:t>2. 清空預設代碼，完整複製貼入本專案「backend/Code.gs」的程式碼，並儲存專案。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6172200" y="1828800"/>
            <a:ext cx="2468880" cy="4206240"/>
          </a:xfrm>
          <a:prstGeom prst="rect">
            <a:avLst/>
          </a:prstGeom>
          <a:solidFill>
            <a:srgbClr val="151D3B"/>
          </a:solidFill>
          <a:ln w="19050">
            <a:solidFill>
              <a:srgbClr val="0EA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81928" y="2011680"/>
            <a:ext cx="2249424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600" b="1">
                <a:solidFill>
                  <a:srgbClr val="0EA5E9"/>
                </a:solidFill>
                <a:latin typeface="Microsoft JhengHei"/>
              </a:defRPr>
            </a:pPr>
            <a:r>
              <a:t>步驟三：部署 Web App</a:t>
            </a:r>
          </a:p>
          <a:p>
            <a:pPr>
              <a:spcAft>
                <a:spcPts val="1500"/>
              </a:spcAft>
              <a:defRPr sz="1100" b="1">
                <a:solidFill>
                  <a:srgbClr val="F8FAFC"/>
                </a:solidFill>
                <a:latin typeface="Microsoft JhengHei"/>
              </a:defRPr>
            </a:pPr>
            <a:r>
              <a:t>取得 API Endpoint</a:t>
            </a:r>
          </a:p>
          <a:p>
            <a:pPr>
              <a:lnSpc>
                <a:spcPct val="135000"/>
              </a:lnSpc>
              <a:spcAft>
                <a:spcPts val="800"/>
              </a:spcAft>
              <a:defRPr sz="1150">
                <a:solidFill>
                  <a:srgbClr val="94A3B8"/>
                </a:solidFill>
                <a:latin typeface="Microsoft JhengHei"/>
              </a:defRPr>
            </a:pPr>
            <a:r>
              <a:t>1. 點選「部署」 &amp;rarr; 「新增部署」。</a:t>
            </a:r>
            <a:br/>
            <a:r>
              <a:t>2. 類型選擇「網頁應用程式」。</a:t>
            </a:r>
            <a:br/>
            <a:r>
              <a:t>3. 執行身分設為「我 (您的Google帳號)」；存取權限設為「任何人 (Anyone)」，複製生成的 Web App 網址。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915400" y="1828800"/>
            <a:ext cx="2468880" cy="4206240"/>
          </a:xfrm>
          <a:prstGeom prst="rect">
            <a:avLst/>
          </a:prstGeom>
          <a:solidFill>
            <a:srgbClr val="151D3B"/>
          </a:solidFill>
          <a:ln w="19050"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025128" y="2011680"/>
            <a:ext cx="2249424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600" b="1">
                <a:solidFill>
                  <a:srgbClr val="A855F7"/>
                </a:solidFill>
                <a:latin typeface="Microsoft JhengHei"/>
              </a:defRPr>
            </a:pPr>
            <a:r>
              <a:t>步驟四：設定前端連線</a:t>
            </a:r>
          </a:p>
          <a:p>
            <a:pPr>
              <a:spcAft>
                <a:spcPts val="1500"/>
              </a:spcAft>
              <a:defRPr sz="1100" b="1">
                <a:solidFill>
                  <a:srgbClr val="F8FAFC"/>
                </a:solidFill>
                <a:latin typeface="Microsoft JhengHei"/>
              </a:defRPr>
            </a:pPr>
            <a:r>
              <a:t>前端網頁對接</a:t>
            </a:r>
          </a:p>
          <a:p>
            <a:pPr>
              <a:lnSpc>
                <a:spcPct val="135000"/>
              </a:lnSpc>
              <a:spcAft>
                <a:spcPts val="800"/>
              </a:spcAft>
              <a:defRPr sz="1150">
                <a:solidFill>
                  <a:srgbClr val="94A3B8"/>
                </a:solidFill>
                <a:latin typeface="Microsoft JhengHei"/>
              </a:defRPr>
            </a:pPr>
            <a:r>
              <a:t>1. 開啟 index.html 或 slides.html，點擊右上角齒輪設定按鈕。</a:t>
            </a:r>
            <a:br/>
            <a:r>
              <a:t>2. 貼入剛剛複製的 Web App URL 並點擊儲存。</a:t>
            </a:r>
            <a:br/>
            <a:r>
              <a:t>3. 我們已將此網址設為本機與遠端倉庫的 defaultApiUrl，此後學生便可直接連線。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91440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A855F7"/>
                </a:solidFill>
                <a:latin typeface="Arial"/>
              </a:defRPr>
            </a:pPr>
            <a:r>
              <a:t>專案技術手冊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40080"/>
            <a:ext cx="1078992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600" b="1">
                <a:solidFill>
                  <a:srgbClr val="F8FAFC"/>
                </a:solidFill>
                <a:latin typeface="Microsoft JhengHei"/>
              </a:defRPr>
            </a:pPr>
            <a:r>
              <a:t>後端容錯機制：No-CORS 傳送與表頭動態遷移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371600"/>
            <a:ext cx="10820095" cy="18288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85800" y="1645920"/>
            <a:ext cx="5303520" cy="4389120"/>
          </a:xfrm>
          <a:prstGeom prst="rect">
            <a:avLst/>
          </a:prstGeom>
          <a:solidFill>
            <a:srgbClr val="151D3B"/>
          </a:solidFill>
          <a:ln w="19050">
            <a:solidFill>
              <a:srgbClr val="0EA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920240"/>
            <a:ext cx="45720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700" b="1">
                <a:solidFill>
                  <a:srgbClr val="0EA5E9"/>
                </a:solidFill>
                <a:latin typeface="Microsoft JhengHei"/>
              </a:defRPr>
            </a:pPr>
            <a:r>
              <a:t>🛡️ 跨網域安全阻攔解決方案</a:t>
            </a:r>
          </a:p>
          <a:p>
            <a:pPr>
              <a:spcAft>
                <a:spcPts val="1000"/>
              </a:spcAft>
              <a:defRPr sz="1250">
                <a:solidFill>
                  <a:srgbClr val="F8FAFC"/>
                </a:solidFill>
                <a:latin typeface="Microsoft JhengHei"/>
              </a:defRPr>
            </a:pPr>
            <a:r>
              <a:t>問題：GAS Web App 在接收 POST 時會重新導向，瀏覽器在追隨導向時常因 CORS 安全檢查缺少標頭而中斷請求，導致「Failed to fetch」錯誤。</a:t>
            </a:r>
            <a:br/>
            <a:br/>
            <a:r>
              <a:t>解決手段：</a:t>
            </a:r>
          </a:p>
          <a:p>
            <a:pPr>
              <a:spcAft>
                <a:spcPts val="200"/>
              </a:spcAft>
              <a:defRPr sz="1250" b="1">
                <a:solidFill>
                  <a:srgbClr val="F8FAFC"/>
                </a:solidFill>
                <a:latin typeface="Microsoft JhengHei"/>
              </a:defRPr>
            </a:pPr>
            <a:r>
              <a:t>✔ 使用 mode: 'no-cors' 模式</a:t>
            </a:r>
          </a:p>
          <a:p>
            <a:pPr>
              <a:spcAft>
                <a:spcPts val="800"/>
              </a:spcAft>
              <a:defRPr sz="1100">
                <a:solidFill>
                  <a:srgbClr val="94A3B8"/>
                </a:solidFill>
                <a:latin typeface="Microsoft JhengHei"/>
              </a:defRPr>
            </a:pPr>
            <a:r>
              <a:t>   強制瀏覽器以不檢查跨網域安全性之方式送出 POST 封包。</a:t>
            </a:r>
          </a:p>
          <a:p>
            <a:pPr>
              <a:spcAft>
                <a:spcPts val="200"/>
              </a:spcAft>
              <a:defRPr sz="1250" b="1">
                <a:solidFill>
                  <a:srgbClr val="F8FAFC"/>
                </a:solidFill>
                <a:latin typeface="Microsoft JhengHei"/>
              </a:defRPr>
            </a:pPr>
            <a:r>
              <a:t>✔ 避免 pre-flight OPTIONS 請求</a:t>
            </a:r>
          </a:p>
          <a:p>
            <a:pPr>
              <a:spcAft>
                <a:spcPts val="800"/>
              </a:spcAft>
              <a:defRPr sz="1100">
                <a:solidFill>
                  <a:srgbClr val="94A3B8"/>
                </a:solidFill>
                <a:latin typeface="Microsoft JhengHei"/>
              </a:defRPr>
            </a:pPr>
            <a:r>
              <a:t>   設定 header 為 Content-Type: 'text/plain'，將請求包裝為 Simple Request。</a:t>
            </a:r>
          </a:p>
          <a:p>
            <a:pPr>
              <a:spcAft>
                <a:spcPts val="200"/>
              </a:spcAft>
              <a:defRPr sz="1250" b="1">
                <a:solidFill>
                  <a:srgbClr val="F8FAFC"/>
                </a:solidFill>
                <a:latin typeface="Microsoft JhengHei"/>
              </a:defRPr>
            </a:pPr>
            <a:r>
              <a:t>✔ 拋棄 Opaque Response 的 JSON 解析</a:t>
            </a:r>
          </a:p>
          <a:p>
            <a:pPr>
              <a:spcAft>
                <a:spcPts val="800"/>
              </a:spcAft>
              <a:defRPr sz="1100">
                <a:solidFill>
                  <a:srgbClr val="94A3B8"/>
                </a:solidFill>
                <a:latin typeface="Microsoft JhengHei"/>
              </a:defRPr>
            </a:pPr>
            <a:r>
              <a:t>   由於 no-cors 下回傳的 status 為 0，前端不嘗試 parse 其 json，只要 fetch 未拋出網路異常即視為發送成功。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6217920" y="1645920"/>
            <a:ext cx="5257800" cy="4389120"/>
          </a:xfrm>
          <a:prstGeom prst="rect">
            <a:avLst/>
          </a:prstGeom>
          <a:solidFill>
            <a:srgbClr val="151D3B"/>
          </a:solidFill>
          <a:ln w="19050"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0" y="1920240"/>
            <a:ext cx="452628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700" b="1">
                <a:solidFill>
                  <a:srgbClr val="A855F7"/>
                </a:solidFill>
                <a:latin typeface="Microsoft JhengHei"/>
              </a:defRPr>
            </a:pPr>
            <a:r>
              <a:t>🔄 動態資料表與自動表頭遷移</a:t>
            </a:r>
          </a:p>
          <a:p>
            <a:pPr>
              <a:spcAft>
                <a:spcPts val="1200"/>
              </a:spcAft>
              <a:defRPr sz="1250">
                <a:solidFill>
                  <a:srgbClr val="F8FAFC"/>
                </a:solidFill>
                <a:latin typeface="Microsoft JhengHei"/>
              </a:defRPr>
            </a:pPr>
            <a:r>
              <a:t>為了適應專案的多個疊代開發（例如從原本的 6 個情境分數，到後面追增簡答批判題及承諾宣告內容），後端 Code.gs 特別設計了自動化表頭遷移（Schema Migration）機制：</a:t>
            </a:r>
          </a:p>
          <a:p>
            <a:pPr>
              <a:spcAft>
                <a:spcPts val="200"/>
              </a:spcAft>
              <a:defRPr sz="1300" b="1">
                <a:solidFill>
                  <a:srgbClr val="F8FAFC"/>
                </a:solidFill>
                <a:latin typeface="Microsoft JhengHei"/>
              </a:defRPr>
            </a:pPr>
            <a:r>
              <a:t>✦ 空白分頁自動表頭建立</a:t>
            </a:r>
          </a:p>
          <a:p>
            <a:pPr>
              <a:spcAft>
                <a:spcPts val="1000"/>
              </a:spcAft>
              <a:defRPr sz="1100">
                <a:solidFill>
                  <a:srgbClr val="94A3B8"/>
                </a:solidFill>
                <a:latin typeface="Microsoft JhengHei"/>
              </a:defRPr>
            </a:pPr>
            <a:r>
              <a:t>若試算表有手動建立的分頁但完全空白，getLastColumn() 回傳為 0。後端會自動攔截，並優先初始化 appendRow(defaultHeaders) 防止 Range 錯誤。</a:t>
            </a:r>
          </a:p>
          <a:p>
            <a:pPr>
              <a:spcAft>
                <a:spcPts val="200"/>
              </a:spcAft>
              <a:defRPr sz="1300" b="1">
                <a:solidFill>
                  <a:srgbClr val="F8FAFC"/>
                </a:solidFill>
                <a:latin typeface="Microsoft JhengHei"/>
              </a:defRPr>
            </a:pPr>
            <a:r>
              <a:t>✦ 新舊版本欄位自動比對</a:t>
            </a:r>
          </a:p>
          <a:p>
            <a:pPr>
              <a:spcAft>
                <a:spcPts val="1000"/>
              </a:spcAft>
              <a:defRPr sz="1100">
                <a:solidFill>
                  <a:srgbClr val="94A3B8"/>
                </a:solidFill>
                <a:latin typeface="Microsoft JhengHei"/>
              </a:defRPr>
            </a:pPr>
            <a:r>
              <a:t>當新版遊戲傳送 ShortAnswer1 等欄位時，Code.gs 會比對目前試算表的表頭，若發現缺失，會利用 getRange() 自動在最右側追加新表頭，無痛升級資料庫。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91440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A855F7"/>
                </a:solidFill>
                <a:latin typeface="Arial"/>
              </a:defRPr>
            </a:pPr>
            <a:r>
              <a:t>專案技術手冊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40080"/>
            <a:ext cx="1078992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600" b="1">
                <a:solidFill>
                  <a:srgbClr val="F8FAFC"/>
                </a:solidFill>
                <a:latin typeface="Microsoft JhengHei"/>
              </a:defRPr>
            </a:pPr>
            <a:r>
              <a:t>發布與測試驗證：GitHub Pages 託管與 API 實測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371600"/>
            <a:ext cx="10820095" cy="18288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85800" y="1645920"/>
            <a:ext cx="5303520" cy="4389120"/>
          </a:xfrm>
          <a:prstGeom prst="rect">
            <a:avLst/>
          </a:prstGeom>
          <a:solidFill>
            <a:srgbClr val="151D3B"/>
          </a:solidFill>
          <a:ln w="19050">
            <a:solidFill>
              <a:srgbClr val="0EA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920240"/>
            <a:ext cx="45720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700" b="1">
                <a:solidFill>
                  <a:srgbClr val="0EA5E9"/>
                </a:solidFill>
                <a:latin typeface="Microsoft JhengHei"/>
              </a:defRPr>
            </a:pPr>
            <a:r>
              <a:t>🚀 GitHub Pages 前端網站部署</a:t>
            </a:r>
          </a:p>
          <a:p>
            <a:pPr>
              <a:spcAft>
                <a:spcPts val="200"/>
              </a:spcAft>
              <a:defRPr sz="1300" b="1">
                <a:solidFill>
                  <a:srgbClr val="F8FAFC"/>
                </a:solidFill>
                <a:latin typeface="Microsoft JhengHei"/>
              </a:defRPr>
            </a:pPr>
            <a:r>
              <a:t>▪ 本地 Git 倉庫初始化</a:t>
            </a:r>
          </a:p>
          <a:p>
            <a:pPr>
              <a:spcAft>
                <a:spcPts val="800"/>
              </a:spcAft>
              <a:defRPr sz="1100">
                <a:solidFill>
                  <a:srgbClr val="94A3B8"/>
                </a:solidFill>
                <a:latin typeface="Microsoft JhengHei"/>
              </a:defRPr>
            </a:pPr>
            <a:r>
              <a:t>打開 PowerShell，進入專案目錄，執行 git init 初始化本地倉庫。</a:t>
            </a:r>
          </a:p>
          <a:p>
            <a:pPr>
              <a:spcAft>
                <a:spcPts val="200"/>
              </a:spcAft>
              <a:defRPr sz="1300" b="1">
                <a:solidFill>
                  <a:srgbClr val="F8FAFC"/>
                </a:solidFill>
                <a:latin typeface="Microsoft JhengHei"/>
              </a:defRPr>
            </a:pPr>
            <a:r>
              <a:t>▪ 提交變更</a:t>
            </a:r>
          </a:p>
          <a:p>
            <a:pPr>
              <a:spcAft>
                <a:spcPts val="800"/>
              </a:spcAft>
              <a:defRPr sz="1100">
                <a:solidFill>
                  <a:srgbClr val="94A3B8"/>
                </a:solidFill>
                <a:latin typeface="Microsoft JhengHei"/>
              </a:defRPr>
            </a:pPr>
            <a:r>
              <a:t>執行 git add . 與 git commit -m 'feat: init CRC platform' 完成第一次提交。</a:t>
            </a:r>
          </a:p>
          <a:p>
            <a:pPr>
              <a:spcAft>
                <a:spcPts val="200"/>
              </a:spcAft>
              <a:defRPr sz="1300" b="1">
                <a:solidFill>
                  <a:srgbClr val="F8FAFC"/>
                </a:solidFill>
                <a:latin typeface="Microsoft JhengHei"/>
              </a:defRPr>
            </a:pPr>
            <a:r>
              <a:t>▪ 設定遠端源並推送</a:t>
            </a:r>
          </a:p>
          <a:p>
            <a:pPr>
              <a:spcAft>
                <a:spcPts val="800"/>
              </a:spcAft>
              <a:defRPr sz="1100">
                <a:solidFill>
                  <a:srgbClr val="94A3B8"/>
                </a:solidFill>
                <a:latin typeface="Microsoft JhengHei"/>
              </a:defRPr>
            </a:pPr>
            <a:r>
              <a:t>執行 git remote add origin 指向您的儲存庫，並執行 git push -u origin main 推送。</a:t>
            </a:r>
          </a:p>
          <a:p>
            <a:pPr>
              <a:spcAft>
                <a:spcPts val="200"/>
              </a:spcAft>
              <a:defRPr sz="1300" b="1">
                <a:solidFill>
                  <a:srgbClr val="F8FAFC"/>
                </a:solidFill>
                <a:latin typeface="Microsoft JhengHei"/>
              </a:defRPr>
            </a:pPr>
            <a:r>
              <a:t>▪ 啟用 GitHub Pages</a:t>
            </a:r>
          </a:p>
          <a:p>
            <a:pPr>
              <a:spcAft>
                <a:spcPts val="800"/>
              </a:spcAft>
              <a:defRPr sz="1100">
                <a:solidFill>
                  <a:srgbClr val="94A3B8"/>
                </a:solidFill>
                <a:latin typeface="Microsoft JhengHei"/>
              </a:defRPr>
            </a:pPr>
            <a:r>
              <a:t>在專案 Settings -&gt; Pages 頁面下將 Branch 設為 main 分支並保存。稍等 1 分鐘即可通過 https://帳號.github.io/CRC2026/ 公開存取。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6217920" y="1645920"/>
            <a:ext cx="5257800" cy="4389120"/>
          </a:xfrm>
          <a:prstGeom prst="rect">
            <a:avLst/>
          </a:prstGeom>
          <a:solidFill>
            <a:srgbClr val="151D3B"/>
          </a:solidFill>
          <a:ln w="19050"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0" y="1920240"/>
            <a:ext cx="452628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700" b="1">
                <a:solidFill>
                  <a:srgbClr val="A855F7"/>
                </a:solidFill>
                <a:latin typeface="Microsoft JhengHei"/>
              </a:defRPr>
            </a:pPr>
            <a:r>
              <a:t>🧪 Node.js 自動化連線驗證結果</a:t>
            </a:r>
          </a:p>
          <a:p>
            <a:pPr>
              <a:spcAft>
                <a:spcPts val="1000"/>
              </a:spcAft>
              <a:defRPr sz="1250">
                <a:solidFill>
                  <a:srgbClr val="F8FAFC"/>
                </a:solidFill>
                <a:latin typeface="Microsoft JhengHei"/>
              </a:defRPr>
            </a:pPr>
            <a:r>
              <a:t>我們已建立測試腳本對您最新的 Google Apps Script 連線位址進行 POST 模擬寫入，驗證結果如下：</a:t>
            </a:r>
          </a:p>
          <a:p>
            <a:pPr>
              <a:spcAft>
                <a:spcPts val="200"/>
              </a:spcAft>
              <a:defRPr sz="1300" b="1">
                <a:solidFill>
                  <a:srgbClr val="F8FAFC"/>
                </a:solidFill>
                <a:latin typeface="Microsoft JhengHei"/>
              </a:defRPr>
            </a:pPr>
            <a:r>
              <a:t>✔ 簡報素養反思測試 寫入成功</a:t>
            </a:r>
          </a:p>
          <a:p>
            <a:pPr>
              <a:spcAft>
                <a:spcPts val="800"/>
              </a:spcAft>
              <a:defRPr sz="1100">
                <a:solidFill>
                  <a:srgbClr val="94A3B8"/>
                </a:solidFill>
                <a:latin typeface="Microsoft JhengHei"/>
              </a:defRPr>
            </a:pPr>
            <a:r>
              <a:t>傳送系級、姓名『AI測試員-簡報』及素養討論反思至工作表 slides_feedback，後端返回 {'success': true}。</a:t>
            </a:r>
          </a:p>
          <a:p>
            <a:pPr>
              <a:spcAft>
                <a:spcPts val="200"/>
              </a:spcAft>
              <a:defRPr sz="1300" b="1">
                <a:solidFill>
                  <a:srgbClr val="F8FAFC"/>
                </a:solidFill>
                <a:latin typeface="Microsoft JhengHei"/>
              </a:defRPr>
            </a:pPr>
            <a:r>
              <a:t>✔ 遊戲結算與簡答題 寫入成功</a:t>
            </a:r>
          </a:p>
          <a:p>
            <a:pPr>
              <a:spcAft>
                <a:spcPts val="800"/>
              </a:spcAft>
              <a:defRPr sz="1100">
                <a:solidFill>
                  <a:srgbClr val="94A3B8"/>
                </a:solidFill>
                <a:latin typeface="Microsoft JhengHei"/>
              </a:defRPr>
            </a:pPr>
            <a:r>
              <a:t>傳送姓名『AI測試員-遊戲』、學號、得分、以及三道批判簡答內容至工作表 game_scores，後端返回 {'success': true}，順利解析資料列。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